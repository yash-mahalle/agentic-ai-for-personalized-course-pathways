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64" r:id="rId10"/>
    <p:sldId id="286" r:id="rId11"/>
    <p:sldId id="280" r:id="rId12"/>
    <p:sldId id="277" r:id="rId13"/>
    <p:sldId id="27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 varScale="1">
        <p:scale>
          <a:sx n="82" d="100"/>
          <a:sy n="82" d="100"/>
        </p:scale>
        <p:origin x="7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h-mahalle/Agentic-AI-for-Personalized-Course-Pathways.gi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325304606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 smtClean="0"/>
                        <a:t>Yash</a:t>
                      </a:r>
                      <a:r>
                        <a:rPr lang="en-US" sz="1600" baseline="0" dirty="0" smtClean="0"/>
                        <a:t> Mohan </a:t>
                      </a:r>
                      <a:r>
                        <a:rPr lang="en-US" sz="1600" baseline="0" dirty="0" err="1" smtClean="0"/>
                        <a:t>Mahalle</a:t>
                      </a:r>
                      <a:endParaRPr sz="16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smtClean="0"/>
                        <a:t>mahalleyash46@gmail.com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smtClean="0"/>
                        <a:t>9511807642</a:t>
                      </a:r>
                      <a:endParaRPr sz="16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IN" sz="2400" b="1" dirty="0" smtClean="0"/>
              <a:t>Education</a:t>
            </a:r>
            <a:endParaRPr lang="en-IN" sz="2400" b="1" dirty="0"/>
          </a:p>
          <a:p>
            <a:r>
              <a:rPr lang="en-US" sz="2400" b="1" dirty="0" smtClean="0">
                <a:highlight>
                  <a:srgbClr val="FFFF00"/>
                </a:highlight>
              </a:rPr>
              <a:t> 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291509"/>
            <a:ext cx="95811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 err="1"/>
              <a:t>LearnMate</a:t>
            </a:r>
            <a:r>
              <a:rPr lang="en-US" sz="2400" b="1" dirty="0"/>
              <a:t> – Agentic AI for Personalized Course Pathways</a:t>
            </a:r>
          </a:p>
          <a:p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9" t="3945" r="3846" b="3266"/>
          <a:stretch/>
        </p:blipFill>
        <p:spPr>
          <a:xfrm>
            <a:off x="4152123" y="3616591"/>
            <a:ext cx="783771" cy="10080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669378" y="1710301"/>
            <a:ext cx="1060704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800" b="1" dirty="0"/>
              <a:t>Problem Statement </a:t>
            </a:r>
            <a:r>
              <a:rPr lang="en-US" sz="1800" b="1" dirty="0" smtClean="0"/>
              <a:t>:</a:t>
            </a:r>
            <a:r>
              <a:rPr lang="en-US" sz="1800" b="1" dirty="0"/>
              <a:t>Personalized Course Pathways</a:t>
            </a:r>
          </a:p>
          <a:p>
            <a:pPr fontAlgn="base"/>
            <a:endParaRPr lang="en-US" b="1" dirty="0"/>
          </a:p>
          <a:p>
            <a:pPr fontAlgn="base"/>
            <a:r>
              <a:rPr lang="en-US" sz="1800" b="1" dirty="0"/>
              <a:t>The Challenge</a:t>
            </a:r>
            <a:r>
              <a:rPr lang="en-US" sz="1800" dirty="0"/>
              <a:t> </a:t>
            </a:r>
          </a:p>
          <a:p>
            <a:pPr fontAlgn="base"/>
            <a:r>
              <a:rPr lang="en-US" sz="1800" dirty="0"/>
              <a:t>Lack of personalized guidance, skill-gap identification, and adaptive recommendations leads to inefficient learning journeys.</a:t>
            </a:r>
          </a:p>
          <a:p>
            <a:pPr fontAlgn="base"/>
            <a:endParaRPr lang="en-US" dirty="0"/>
          </a:p>
          <a:p>
            <a:pPr fontAlgn="base"/>
            <a:r>
              <a:rPr lang="en-US" sz="1800" b="1" dirty="0"/>
              <a:t>The Objective</a:t>
            </a:r>
            <a:r>
              <a:rPr lang="en-US" sz="1800" dirty="0"/>
              <a:t> </a:t>
            </a:r>
            <a:endParaRPr lang="en-US" sz="1800" dirty="0" smtClean="0"/>
          </a:p>
          <a:p>
            <a:r>
              <a:rPr lang="en-US" sz="1800" dirty="0"/>
              <a:t>• Personalized learning roadmaps</a:t>
            </a:r>
          </a:p>
          <a:p>
            <a:r>
              <a:rPr lang="en-US" sz="1800" dirty="0"/>
              <a:t>• Skill-gap analysis</a:t>
            </a:r>
          </a:p>
          <a:p>
            <a:r>
              <a:rPr lang="en-US" sz="1800" dirty="0"/>
              <a:t>• Dynamic recommendations</a:t>
            </a:r>
          </a:p>
          <a:p>
            <a:r>
              <a:rPr lang="en-US" sz="1800" dirty="0"/>
              <a:t>• Career guidance</a:t>
            </a:r>
          </a:p>
          <a:p>
            <a:r>
              <a:rPr lang="en-US" sz="1800" dirty="0"/>
              <a:t>• Progress tracking</a:t>
            </a:r>
          </a:p>
          <a:p>
            <a:pPr fontAlgn="base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669378" y="685427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-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994084" y="2024169"/>
            <a:ext cx="1060704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/>
              <a:t>LangFlow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IBM watsonx.ai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IBM Granite 4.0 Instruct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RAG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/>
              <a:t>Streamlit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/>
              <a:t>ChromaDB</a:t>
            </a:r>
            <a:endParaRPr lang="en-IN" sz="20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891446" y="1170619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Technology </a:t>
            </a:r>
            <a:r>
              <a:rPr lang="en-US" sz="2800" b="1" dirty="0" smtClean="0"/>
              <a:t>Used - 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725362" y="2316791"/>
            <a:ext cx="1060704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sz="2400" b="1" dirty="0"/>
              <a:t>Proposed Solution: </a:t>
            </a:r>
            <a:r>
              <a:rPr lang="en-US" sz="2400" dirty="0"/>
              <a:t>Agentic AI for Personalized Course </a:t>
            </a:r>
            <a:r>
              <a:rPr lang="en-US" sz="2400" dirty="0" smtClean="0"/>
              <a:t>Pathways</a:t>
            </a:r>
          </a:p>
          <a:p>
            <a:endParaRPr lang="en-US" sz="1800" dirty="0"/>
          </a:p>
          <a:p>
            <a:r>
              <a:rPr lang="en-US" sz="2400" dirty="0" err="1" smtClean="0"/>
              <a:t>LearnMate</a:t>
            </a:r>
            <a:r>
              <a:rPr lang="en-US" sz="2400" dirty="0" smtClean="0"/>
              <a:t> </a:t>
            </a:r>
            <a:r>
              <a:rPr lang="en-US" sz="2400" dirty="0"/>
              <a:t>uses Agentic AI, </a:t>
            </a:r>
            <a:r>
              <a:rPr lang="en-US" sz="2400" dirty="0" err="1"/>
              <a:t>LangFlow</a:t>
            </a:r>
            <a:r>
              <a:rPr lang="en-US" sz="2400" dirty="0"/>
              <a:t>, IBM watsonx.ai, and Granite Models </a:t>
            </a:r>
            <a:endParaRPr lang="en-US" sz="2400" dirty="0" smtClean="0"/>
          </a:p>
          <a:p>
            <a:r>
              <a:rPr lang="en-US" sz="2400" dirty="0" smtClean="0"/>
              <a:t>to </a:t>
            </a:r>
            <a:r>
              <a:rPr lang="en-US" sz="2400" dirty="0"/>
              <a:t>analyze student profiles and generate adaptive learning pathways.</a:t>
            </a:r>
          </a:p>
          <a:p>
            <a:pPr fontAlgn="base"/>
            <a:endParaRPr lang="en-US" sz="2400" dirty="0"/>
          </a:p>
          <a:p>
            <a:endParaRPr lang="en-IN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725362" y="1217271"/>
            <a:ext cx="7214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Proposed</a:t>
            </a:r>
            <a:r>
              <a:rPr lang="en-US" sz="3200" b="1" dirty="0"/>
              <a:t> Solution -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1450610" y="1246970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1320403" y="2230378"/>
            <a:ext cx="882396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Chat Input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Prompt Template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Retriever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Vector Store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IBM Agent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Granite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Chat Output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pPr marL="342900" indent="-342900">
              <a:buAutoNum type="arabicParenR" startAt="3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1741239" y="1396260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 err="1">
                <a:sym typeface="Times New Roman"/>
              </a:rPr>
              <a:t>Langflow</a:t>
            </a:r>
            <a:r>
              <a:rPr lang="en-US" sz="36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>
                <a:sym typeface="Times New Roman"/>
              </a:rPr>
              <a:t>workflow </a:t>
            </a:r>
            <a:r>
              <a:rPr lang="en-US" sz="2800" b="1" dirty="0" smtClean="0">
                <a:sym typeface="Times New Roman"/>
              </a:rPr>
              <a:t>–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endParaRPr lang="en-US" sz="2400" b="1" dirty="0"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endParaRPr lang="en-US" sz="2400" b="1" dirty="0" smtClean="0">
              <a:sym typeface="Times New Roman"/>
            </a:endParaRPr>
          </a:p>
          <a:p>
            <a:pPr>
              <a:buClr>
                <a:srgbClr val="051D3A"/>
              </a:buClr>
              <a:buSzPts val="3500"/>
            </a:pPr>
            <a:r>
              <a:rPr lang="en-IN" sz="2800" dirty="0"/>
              <a:t>User Input → Profile Analysis → Skill Assessment → RAG Retrieval → Recommendation Agent → Progress Tracking → Career Guidance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endParaRPr sz="2400" b="1" dirty="0"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1703915" y="1461574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Architecture </a:t>
            </a:r>
            <a:r>
              <a:rPr lang="en-US" sz="2800" b="1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blueprint –</a:t>
            </a:r>
          </a:p>
          <a:p>
            <a:pPr lvl="0"/>
            <a:endParaRPr lang="en-US" sz="2800" b="1" dirty="0" smtClean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lvl="0"/>
            <a:endParaRPr lang="en-US" sz="2800" b="1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IN" sz="2800" dirty="0"/>
              <a:t>Student → </a:t>
            </a:r>
            <a:r>
              <a:rPr lang="en-IN" sz="2800" dirty="0" err="1"/>
              <a:t>Streamlit</a:t>
            </a:r>
            <a:r>
              <a:rPr lang="en-IN" sz="2800" dirty="0"/>
              <a:t> UI → </a:t>
            </a:r>
            <a:r>
              <a:rPr lang="en-IN" sz="2800" dirty="0" err="1"/>
              <a:t>LangFlow</a:t>
            </a:r>
            <a:r>
              <a:rPr lang="en-IN" sz="2800" dirty="0"/>
              <a:t> → Multi-Agent Layer → IBM Granite Model → RAG Database → Personalized Roadmap</a:t>
            </a:r>
          </a:p>
          <a:p>
            <a:pPr lvl="0"/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1119301" y="1188534"/>
            <a:ext cx="9317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Role of Agentic AI in the solution 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1119301" y="2408465"/>
            <a:ext cx="740664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Role of Agentic </a:t>
            </a:r>
            <a:r>
              <a:rPr lang="en-IN" sz="2000" b="1" dirty="0" smtClean="0"/>
              <a:t>AI</a:t>
            </a:r>
          </a:p>
          <a:p>
            <a:endParaRPr lang="en-IN" sz="1800" dirty="0"/>
          </a:p>
          <a:p>
            <a:r>
              <a:rPr lang="en-US" sz="2000" dirty="0" smtClean="0"/>
              <a:t>Autonomous </a:t>
            </a:r>
            <a:r>
              <a:rPr lang="en-US" sz="2000" dirty="0"/>
              <a:t>agents collaborate to understand user goals, assess skills, recommend courses, and adapt learning pathways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1281093" y="1352379"/>
            <a:ext cx="7123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Novelty and Uniqueness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1281093" y="2419987"/>
            <a:ext cx="113019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Multi-Agent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Adaptive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Career Alignment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RAG-Based Knowledge Retrieval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Scalable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834545" y="1184727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Future </a:t>
            </a:r>
            <a:r>
              <a:rPr lang="en-US" sz="2800" b="1" dirty="0" smtClean="0">
                <a:sym typeface="Times New Roman"/>
              </a:rPr>
              <a:t>Scope - </a:t>
            </a:r>
            <a:endParaRPr sz="28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657263" y="2256963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Resume Analyzer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Interview Coach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Internship Recommendation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Multilingual Support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Industry Integration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041443" y="83271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041443" y="1793094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2000" dirty="0" err="1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200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URL </a:t>
            </a:r>
            <a:r>
              <a:rPr lang="en-US" sz="200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200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</a:t>
            </a:r>
            <a:r>
              <a:rPr lang="en-US" sz="20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://github.com/yash-mahalle/Agentic-AI-for-Personalized-Course-Pathways.git</a:t>
            </a:r>
            <a:endParaRPr lang="en-US" sz="200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93503" y="2575248"/>
            <a:ext cx="60835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smtClean="0"/>
              <a:t>Thank You</a:t>
            </a:r>
            <a:endParaRPr lang="en-IN" sz="5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1227</TotalTime>
  <Words>246</Words>
  <Application>Microsoft Office PowerPoint</Application>
  <PresentationFormat>Widescreen</PresentationFormat>
  <Paragraphs>93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mahal</cp:lastModifiedBy>
  <cp:revision>28</cp:revision>
  <dcterms:created xsi:type="dcterms:W3CDTF">2025-07-08T05:06:56Z</dcterms:created>
  <dcterms:modified xsi:type="dcterms:W3CDTF">2026-06-08T06:35:42Z</dcterms:modified>
</cp:coreProperties>
</file>